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2" r:id="rId13"/>
    <p:sldId id="343" r:id="rId14"/>
    <p:sldId id="344"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2" d="100"/>
          <a:sy n="72" d="100"/>
        </p:scale>
        <p:origin x="576"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656791" y="4791138"/>
            <a:ext cx="3400089" cy="861497"/>
          </a:xfrm>
        </p:spPr>
        <p:txBody>
          <a:bodyPr/>
          <a:lstStyle/>
          <a:p>
            <a:pPr algn="r"/>
            <a:r>
              <a:rPr lang="en-US" b="0" dirty="0">
                <a:solidFill>
                  <a:schemeClr val="tx1"/>
                </a:solidFill>
              </a:rPr>
              <a:t>[Ravikiran Pendyala]</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04801" y="3098801"/>
            <a:ext cx="6095999" cy="1517723"/>
          </a:xfrm>
        </p:spPr>
        <p:txBody>
          <a:bodyPr>
            <a:normAutofit/>
          </a:bodyPr>
          <a:lstStyle/>
          <a:p>
            <a:r>
              <a:rPr lang="en-GB" sz="3200" dirty="0"/>
              <a:t>AI – Based Network Intrusion Detection System</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4439920" y="5924942"/>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605954" y="3509859"/>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096000" y="5120255"/>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a:extLst>
              <a:ext uri="{FF2B5EF4-FFF2-40B4-BE49-F238E27FC236}">
                <a16:creationId xmlns:a16="http://schemas.microsoft.com/office/drawing/2014/main" id="{7201737A-B873-4D1D-8A41-5ABF5184BC8F}"/>
              </a:ext>
            </a:extLst>
          </p:cNvPr>
          <p:cNvSpPr txBox="1">
            <a:spLocks/>
          </p:cNvSpPr>
          <p:nvPr/>
        </p:nvSpPr>
        <p:spPr>
          <a:xfrm>
            <a:off x="4656791" y="5332946"/>
            <a:ext cx="4941277"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[AICTE ID:</a:t>
            </a:r>
            <a:r>
              <a:rPr lang="en-US" b="0" dirty="0"/>
              <a:t>STU68277cc3548ec1747418307</a:t>
            </a:r>
            <a:r>
              <a:rPr lang="en-US" b="0" dirty="0">
                <a:solidFill>
                  <a:schemeClr val="tx1"/>
                </a:solidFill>
              </a:rPr>
              <a:t>]</a:t>
            </a:r>
            <a:endParaRPr lang="en-IN" b="0" dirty="0">
              <a:solidFill>
                <a:schemeClr val="tx1"/>
              </a:solidFill>
            </a:endParaRPr>
          </a:p>
        </p:txBody>
      </p:sp>
      <p:sp>
        <p:nvSpPr>
          <p:cNvPr id="5" name="TextBox 4">
            <a:extLst>
              <a:ext uri="{FF2B5EF4-FFF2-40B4-BE49-F238E27FC236}">
                <a16:creationId xmlns:a16="http://schemas.microsoft.com/office/drawing/2014/main" id="{9C78576F-2069-2DB0-06EE-EC807A7A9B5D}"/>
              </a:ext>
            </a:extLst>
          </p:cNvPr>
          <p:cNvSpPr txBox="1"/>
          <p:nvPr/>
        </p:nvSpPr>
        <p:spPr>
          <a:xfrm>
            <a:off x="3555024" y="5936443"/>
            <a:ext cx="6101860" cy="369332"/>
          </a:xfrm>
          <a:prstGeom prst="rect">
            <a:avLst/>
          </a:prstGeom>
          <a:noFill/>
        </p:spPr>
        <p:txBody>
          <a:bodyPr wrap="square">
            <a:spAutoFit/>
          </a:bodyPr>
          <a:lstStyle/>
          <a:p>
            <a:r>
              <a:rPr lang="en-US" dirty="0"/>
              <a:t>Internship ID: INTERNSHIP_1762343729690b3b31bb89f</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1"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77500" lnSpcReduction="20000"/>
          </a:bodyPr>
          <a:lstStyle/>
          <a:p>
            <a:pPr marL="0" indent="0" algn="just">
              <a:lnSpc>
                <a:spcPct val="150000"/>
              </a:lnSpc>
              <a:buNone/>
            </a:pPr>
            <a:r>
              <a:rPr lang="en-IN" sz="2800" dirty="0"/>
              <a:t>In present world computer networks facing a large number of cyber attacks. Traditional security machine like firewalls and rule-based intrusion systems are not sufficient to detect attacks. Therefore, there is need for an intelligent systems that can automatic for network traffic and detect intrusions using AI and Machine Learning techniques.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840382"/>
            <a:ext cx="6276109" cy="830997"/>
          </a:xfrm>
        </p:spPr>
        <p:txBody>
          <a:bodyPr>
            <a:normAutofit fontScale="90000"/>
          </a:bodyPr>
          <a:lstStyle/>
          <a:p>
            <a:r>
              <a:rPr lang="en-GB" dirty="0"/>
              <a:t>Project Description</a:t>
            </a:r>
            <a:br>
              <a:rPr lang="en-GB" dirty="0"/>
            </a:br>
            <a:r>
              <a:rPr lang="en-GB" dirty="0"/>
              <a:t>	</a:t>
            </a:r>
            <a:r>
              <a:rPr lang="en-GB" sz="2800" dirty="0"/>
              <a:t>My project implements an AI-Based Intrusion Detection System(NIDS) that uses ML to identify malicious network activities. The system analyses network traffic data and classifies it as normal or intrusive.</a:t>
            </a:r>
            <a:br>
              <a:rPr lang="en-GB" sz="2800" dirty="0"/>
            </a:br>
            <a:r>
              <a:rPr lang="en-GB" sz="2800" dirty="0"/>
              <a:t>The project use the CIC-IDS-2017 real world data , contains labelled network traffic data including normal traffic and different attack types.</a:t>
            </a:r>
            <a:br>
              <a:rPr lang="en-GB" sz="2800" dirty="0"/>
            </a:br>
            <a:r>
              <a:rPr lang="en-GB" sz="2800" dirty="0" err="1"/>
              <a:t>Streamlit</a:t>
            </a:r>
            <a:r>
              <a:rPr lang="en-GB" sz="2800" dirty="0"/>
              <a:t>-based dashboard is developed to train and test live traffic values.</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10000"/>
          </a:bodyPr>
          <a:lstStyle/>
          <a:p>
            <a:pPr algn="just">
              <a:lnSpc>
                <a:spcPct val="150000"/>
              </a:lnSpc>
            </a:pPr>
            <a:r>
              <a:rPr lang="en-IN" sz="3600" dirty="0"/>
              <a:t>Network Administrators</a:t>
            </a:r>
          </a:p>
          <a:p>
            <a:pPr algn="just">
              <a:lnSpc>
                <a:spcPct val="150000"/>
              </a:lnSpc>
            </a:pPr>
            <a:r>
              <a:rPr lang="en-IN" sz="3600" dirty="0"/>
              <a:t>Cyber Security Analysts</a:t>
            </a:r>
          </a:p>
          <a:p>
            <a:pPr algn="just">
              <a:lnSpc>
                <a:spcPct val="150000"/>
              </a:lnSpc>
            </a:pPr>
            <a:r>
              <a:rPr lang="en-IN" sz="3600" dirty="0"/>
              <a:t>Organizations managing networks</a:t>
            </a:r>
          </a:p>
          <a:p>
            <a:pPr algn="just">
              <a:lnSpc>
                <a:spcPct val="150000"/>
              </a:lnSpc>
            </a:pPr>
            <a:r>
              <a:rPr lang="en-IN" sz="3600" dirty="0"/>
              <a:t>Educational institutions for learning cyber security concepts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b="1" dirty="0"/>
              <a:t>Programming Language:</a:t>
            </a:r>
            <a:r>
              <a:rPr lang="en-US" dirty="0"/>
              <a:t> Python</a:t>
            </a:r>
          </a:p>
          <a:p>
            <a:pPr lvl="1">
              <a:lnSpc>
                <a:spcPct val="150000"/>
              </a:lnSpc>
            </a:pPr>
            <a:r>
              <a:rPr lang="en-US" b="1" dirty="0"/>
              <a:t>Machine Learning Algorithm:</a:t>
            </a:r>
            <a:r>
              <a:rPr lang="en-US" dirty="0"/>
              <a:t> Random Forest Classifier</a:t>
            </a:r>
          </a:p>
          <a:p>
            <a:pPr lvl="1">
              <a:lnSpc>
                <a:spcPct val="150000"/>
              </a:lnSpc>
            </a:pPr>
            <a:r>
              <a:rPr lang="en-US" b="1" dirty="0"/>
              <a:t>Dataset:</a:t>
            </a:r>
            <a:r>
              <a:rPr lang="en-US" dirty="0"/>
              <a:t> CIC-IDS-2017 (Canadian Institute for Cybersecurity)</a:t>
            </a:r>
          </a:p>
          <a:p>
            <a:pPr lvl="1">
              <a:lnSpc>
                <a:spcPct val="150000"/>
              </a:lnSpc>
            </a:pPr>
            <a:r>
              <a:rPr lang="en-US" dirty="0"/>
              <a:t>Libraries:</a:t>
            </a:r>
          </a:p>
          <a:p>
            <a:pPr lvl="3">
              <a:lnSpc>
                <a:spcPct val="150000"/>
              </a:lnSpc>
            </a:pPr>
            <a:r>
              <a:rPr lang="en-US" dirty="0"/>
              <a:t>Pandas – Data handling</a:t>
            </a:r>
          </a:p>
          <a:p>
            <a:pPr lvl="3">
              <a:lnSpc>
                <a:spcPct val="150000"/>
              </a:lnSpc>
            </a:pPr>
            <a:r>
              <a:rPr lang="en-US" dirty="0"/>
              <a:t>NumPy – Numerical operations</a:t>
            </a:r>
          </a:p>
          <a:p>
            <a:pPr lvl="3">
              <a:lnSpc>
                <a:spcPct val="150000"/>
              </a:lnSpc>
            </a:pPr>
            <a:r>
              <a:rPr lang="en-US" dirty="0"/>
              <a:t>Scikit-Learn – Machine learning</a:t>
            </a:r>
          </a:p>
          <a:p>
            <a:pPr lvl="3">
              <a:lnSpc>
                <a:spcPct val="150000"/>
              </a:lnSpc>
            </a:pPr>
            <a:r>
              <a:rPr lang="en-US" dirty="0" err="1"/>
              <a:t>Streamlit</a:t>
            </a:r>
            <a:r>
              <a:rPr lang="en-US" dirty="0"/>
              <a:t> – Web dashboard</a:t>
            </a:r>
            <a:endParaRPr lang="en-IN" dirty="0"/>
          </a:p>
          <a:p>
            <a:pPr lvl="2">
              <a:lnSpc>
                <a:spcPct val="150000"/>
              </a:lnSpc>
            </a:pPr>
            <a:r>
              <a:rPr lang="en-US" b="1" dirty="0"/>
              <a:t>Development Tool:</a:t>
            </a:r>
            <a:r>
              <a:rPr lang="en-US" dirty="0"/>
              <a:t> Visual Studio Code</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37300" y="3458211"/>
            <a:ext cx="3922735" cy="365181"/>
          </a:xfrm>
        </p:spPr>
        <p:txBody>
          <a:bodyPr>
            <a:normAutofit fontScale="92500" lnSpcReduction="10000"/>
          </a:bodyPr>
          <a:lstStyle/>
          <a:p>
            <a:pPr marL="0" indent="0">
              <a:buNone/>
            </a:pPr>
            <a:r>
              <a:rPr lang="en-IN" dirty="0"/>
              <a:t>Code-part 1</a:t>
            </a:r>
          </a:p>
        </p:txBody>
      </p:sp>
      <p:pic>
        <p:nvPicPr>
          <p:cNvPr id="13" name="Picture 12">
            <a:extLst>
              <a:ext uri="{FF2B5EF4-FFF2-40B4-BE49-F238E27FC236}">
                <a16:creationId xmlns:a16="http://schemas.microsoft.com/office/drawing/2014/main" id="{1C6A7E14-E51C-6486-9785-8709D3BB1DE4}"/>
              </a:ext>
            </a:extLst>
          </p:cNvPr>
          <p:cNvPicPr>
            <a:picLocks noChangeAspect="1"/>
          </p:cNvPicPr>
          <p:nvPr/>
        </p:nvPicPr>
        <p:blipFill>
          <a:blip r:embed="rId4"/>
          <a:stretch>
            <a:fillRect/>
          </a:stretch>
        </p:blipFill>
        <p:spPr>
          <a:xfrm>
            <a:off x="320982" y="1201586"/>
            <a:ext cx="4275138" cy="2161374"/>
          </a:xfrm>
          <a:prstGeom prst="rect">
            <a:avLst/>
          </a:prstGeom>
        </p:spPr>
      </p:pic>
      <p:pic>
        <p:nvPicPr>
          <p:cNvPr id="15" name="Picture 14">
            <a:extLst>
              <a:ext uri="{FF2B5EF4-FFF2-40B4-BE49-F238E27FC236}">
                <a16:creationId xmlns:a16="http://schemas.microsoft.com/office/drawing/2014/main" id="{BFC487A5-8201-1B7A-C138-B9E451041C5D}"/>
              </a:ext>
            </a:extLst>
          </p:cNvPr>
          <p:cNvPicPr>
            <a:picLocks noChangeAspect="1"/>
          </p:cNvPicPr>
          <p:nvPr/>
        </p:nvPicPr>
        <p:blipFill>
          <a:blip r:embed="rId5"/>
          <a:stretch>
            <a:fillRect/>
          </a:stretch>
        </p:blipFill>
        <p:spPr>
          <a:xfrm>
            <a:off x="5250871" y="1201586"/>
            <a:ext cx="4275138" cy="2161374"/>
          </a:xfrm>
          <a:prstGeom prst="rect">
            <a:avLst/>
          </a:prstGeom>
        </p:spPr>
      </p:pic>
      <p:sp>
        <p:nvSpPr>
          <p:cNvPr id="16" name="TextBox 15">
            <a:extLst>
              <a:ext uri="{FF2B5EF4-FFF2-40B4-BE49-F238E27FC236}">
                <a16:creationId xmlns:a16="http://schemas.microsoft.com/office/drawing/2014/main" id="{AB41D87D-E871-0856-A15B-AEE1FE9234F4}"/>
              </a:ext>
            </a:extLst>
          </p:cNvPr>
          <p:cNvSpPr txBox="1"/>
          <p:nvPr/>
        </p:nvSpPr>
        <p:spPr>
          <a:xfrm>
            <a:off x="6281497" y="3509177"/>
            <a:ext cx="1407758" cy="369332"/>
          </a:xfrm>
          <a:prstGeom prst="rect">
            <a:avLst/>
          </a:prstGeom>
          <a:noFill/>
        </p:spPr>
        <p:txBody>
          <a:bodyPr wrap="none" rtlCol="0">
            <a:spAutoFit/>
          </a:bodyPr>
          <a:lstStyle/>
          <a:p>
            <a:r>
              <a:rPr lang="en-US" dirty="0"/>
              <a:t>Code-part 2</a:t>
            </a:r>
          </a:p>
        </p:txBody>
      </p:sp>
      <p:pic>
        <p:nvPicPr>
          <p:cNvPr id="18" name="Picture 17">
            <a:extLst>
              <a:ext uri="{FF2B5EF4-FFF2-40B4-BE49-F238E27FC236}">
                <a16:creationId xmlns:a16="http://schemas.microsoft.com/office/drawing/2014/main" id="{FA975C91-CAEA-DB32-2393-D33F9FF8D0C2}"/>
              </a:ext>
            </a:extLst>
          </p:cNvPr>
          <p:cNvPicPr>
            <a:picLocks noChangeAspect="1"/>
          </p:cNvPicPr>
          <p:nvPr/>
        </p:nvPicPr>
        <p:blipFill>
          <a:blip r:embed="rId6"/>
          <a:stretch>
            <a:fillRect/>
          </a:stretch>
        </p:blipFill>
        <p:spPr>
          <a:xfrm>
            <a:off x="2598667" y="3969609"/>
            <a:ext cx="4210484" cy="1881943"/>
          </a:xfrm>
          <a:prstGeom prst="rect">
            <a:avLst/>
          </a:prstGeom>
        </p:spPr>
      </p:pic>
      <p:sp>
        <p:nvSpPr>
          <p:cNvPr id="19" name="TextBox 18">
            <a:extLst>
              <a:ext uri="{FF2B5EF4-FFF2-40B4-BE49-F238E27FC236}">
                <a16:creationId xmlns:a16="http://schemas.microsoft.com/office/drawing/2014/main" id="{C6DADD54-EB0D-FEAB-5691-F69D777B0832}"/>
              </a:ext>
            </a:extLst>
          </p:cNvPr>
          <p:cNvSpPr txBox="1"/>
          <p:nvPr/>
        </p:nvSpPr>
        <p:spPr>
          <a:xfrm>
            <a:off x="3729519" y="5866701"/>
            <a:ext cx="1661032" cy="369332"/>
          </a:xfrm>
          <a:prstGeom prst="rect">
            <a:avLst/>
          </a:prstGeom>
          <a:noFill/>
        </p:spPr>
        <p:txBody>
          <a:bodyPr wrap="none" rtlCol="0">
            <a:spAutoFit/>
          </a:bodyPr>
          <a:lstStyle/>
          <a:p>
            <a:r>
              <a:rPr lang="en-US" dirty="0"/>
              <a:t>Dataset Image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422959" y="4138490"/>
            <a:ext cx="4876829" cy="666077"/>
          </a:xfrm>
        </p:spPr>
        <p:txBody>
          <a:bodyPr>
            <a:normAutofit lnSpcReduction="10000"/>
          </a:bodyPr>
          <a:lstStyle/>
          <a:p>
            <a:pPr marL="0" indent="0">
              <a:buNone/>
            </a:pPr>
            <a:r>
              <a:rPr lang="en-IN" dirty="0"/>
              <a:t>Training the AI model (by assigning values)</a:t>
            </a:r>
          </a:p>
        </p:txBody>
      </p:sp>
      <p:pic>
        <p:nvPicPr>
          <p:cNvPr id="23" name="Picture 22">
            <a:extLst>
              <a:ext uri="{FF2B5EF4-FFF2-40B4-BE49-F238E27FC236}">
                <a16:creationId xmlns:a16="http://schemas.microsoft.com/office/drawing/2014/main" id="{C6BC5692-AB31-5EC6-3949-6F09AB518E12}"/>
              </a:ext>
            </a:extLst>
          </p:cNvPr>
          <p:cNvPicPr>
            <a:picLocks noChangeAspect="1"/>
          </p:cNvPicPr>
          <p:nvPr/>
        </p:nvPicPr>
        <p:blipFill>
          <a:blip r:embed="rId4"/>
          <a:stretch>
            <a:fillRect/>
          </a:stretch>
        </p:blipFill>
        <p:spPr>
          <a:xfrm>
            <a:off x="190352" y="1321513"/>
            <a:ext cx="4891272" cy="2560021"/>
          </a:xfrm>
          <a:prstGeom prst="rect">
            <a:avLst/>
          </a:prstGeom>
        </p:spPr>
      </p:pic>
      <p:pic>
        <p:nvPicPr>
          <p:cNvPr id="3" name="Picture 2">
            <a:extLst>
              <a:ext uri="{FF2B5EF4-FFF2-40B4-BE49-F238E27FC236}">
                <a16:creationId xmlns:a16="http://schemas.microsoft.com/office/drawing/2014/main" id="{19B7F99A-9803-EE87-7B06-E449ACE64BAF}"/>
              </a:ext>
            </a:extLst>
          </p:cNvPr>
          <p:cNvPicPr>
            <a:picLocks noChangeAspect="1"/>
          </p:cNvPicPr>
          <p:nvPr/>
        </p:nvPicPr>
        <p:blipFill>
          <a:blip r:embed="rId5"/>
          <a:stretch>
            <a:fillRect/>
          </a:stretch>
        </p:blipFill>
        <p:spPr>
          <a:xfrm>
            <a:off x="5299788" y="1321513"/>
            <a:ext cx="4891273" cy="2529587"/>
          </a:xfrm>
          <a:prstGeom prst="rect">
            <a:avLst/>
          </a:prstGeom>
        </p:spPr>
      </p:pic>
      <p:sp>
        <p:nvSpPr>
          <p:cNvPr id="6" name="TextBox 5">
            <a:extLst>
              <a:ext uri="{FF2B5EF4-FFF2-40B4-BE49-F238E27FC236}">
                <a16:creationId xmlns:a16="http://schemas.microsoft.com/office/drawing/2014/main" id="{939276BF-B6BC-8963-B78E-9EB045F5C62B}"/>
              </a:ext>
            </a:extLst>
          </p:cNvPr>
          <p:cNvSpPr txBox="1"/>
          <p:nvPr/>
        </p:nvSpPr>
        <p:spPr>
          <a:xfrm>
            <a:off x="5467739" y="4138490"/>
            <a:ext cx="4141775" cy="369332"/>
          </a:xfrm>
          <a:prstGeom prst="rect">
            <a:avLst/>
          </a:prstGeom>
          <a:noFill/>
        </p:spPr>
        <p:txBody>
          <a:bodyPr wrap="none" rtlCol="0">
            <a:spAutoFit/>
          </a:bodyPr>
          <a:lstStyle/>
          <a:p>
            <a:r>
              <a:rPr lang="en-US" dirty="0"/>
              <a:t>Model detected as Normal Traffic flow</a:t>
            </a:r>
          </a:p>
        </p:txBody>
      </p:sp>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11" name="Picture 10">
            <a:extLst>
              <a:ext uri="{FF2B5EF4-FFF2-40B4-BE49-F238E27FC236}">
                <a16:creationId xmlns:a16="http://schemas.microsoft.com/office/drawing/2014/main" id="{F7DED532-3507-6298-81C5-A5D125764077}"/>
              </a:ext>
            </a:extLst>
          </p:cNvPr>
          <p:cNvPicPr>
            <a:picLocks noChangeAspect="1"/>
          </p:cNvPicPr>
          <p:nvPr/>
        </p:nvPicPr>
        <p:blipFill>
          <a:blip r:embed="rId2"/>
          <a:stretch>
            <a:fillRect/>
          </a:stretch>
        </p:blipFill>
        <p:spPr>
          <a:xfrm>
            <a:off x="560836" y="1222941"/>
            <a:ext cx="7811590" cy="5033561"/>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3" name="Picture 2">
            <a:extLst>
              <a:ext uri="{FF2B5EF4-FFF2-40B4-BE49-F238E27FC236}">
                <a16:creationId xmlns:a16="http://schemas.microsoft.com/office/drawing/2014/main" id="{162F735B-B8DC-C6D5-8D0F-8F41053CB6A4}"/>
              </a:ext>
            </a:extLst>
          </p:cNvPr>
          <p:cNvPicPr>
            <a:picLocks noChangeAspect="1"/>
          </p:cNvPicPr>
          <p:nvPr/>
        </p:nvPicPr>
        <p:blipFill>
          <a:blip r:embed="rId2"/>
          <a:stretch>
            <a:fillRect/>
          </a:stretch>
        </p:blipFill>
        <p:spPr>
          <a:xfrm>
            <a:off x="687133" y="1179442"/>
            <a:ext cx="7264171" cy="5077060"/>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Securing Android Devices</a:t>
            </a:r>
          </a:p>
        </p:txBody>
      </p:sp>
      <p:pic>
        <p:nvPicPr>
          <p:cNvPr id="3" name="Picture 2">
            <a:extLst>
              <a:ext uri="{FF2B5EF4-FFF2-40B4-BE49-F238E27FC236}">
                <a16:creationId xmlns:a16="http://schemas.microsoft.com/office/drawing/2014/main" id="{11525444-D811-4040-A157-F350A961F517}"/>
              </a:ext>
            </a:extLst>
          </p:cNvPr>
          <p:cNvPicPr>
            <a:picLocks noChangeAspect="1"/>
          </p:cNvPicPr>
          <p:nvPr/>
        </p:nvPicPr>
        <p:blipFill>
          <a:blip r:embed="rId2"/>
          <a:stretch>
            <a:fillRect/>
          </a:stretch>
        </p:blipFill>
        <p:spPr>
          <a:xfrm>
            <a:off x="958599" y="1432495"/>
            <a:ext cx="7016063" cy="4824007"/>
          </a:xfrm>
          <a:prstGeom prst="rect">
            <a:avLst/>
          </a:prstGeom>
        </p:spPr>
      </p:pic>
    </p:spTree>
    <p:extLst>
      <p:ext uri="{BB962C8B-B14F-4D97-AF65-F5344CB8AC3E}">
        <p14:creationId xmlns:p14="http://schemas.microsoft.com/office/powerpoint/2010/main" val="341100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11</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http://www.w3.org/XML/1998/namespace"/>
    <ds:schemaRef ds:uri="http://schemas.microsoft.com/office/2006/metadata/properties"/>
    <ds:schemaRef ds:uri="http://schemas.microsoft.com/office/infopath/2007/PartnerControls"/>
    <ds:schemaRef ds:uri="16c05727-aa75-4e4a-9b5f-8a80a116589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Facet</Template>
  <TotalTime>635</TotalTime>
  <Words>275</Words>
  <Application>Microsoft Office PowerPoint</Application>
  <PresentationFormat>Widescreen</PresentationFormat>
  <Paragraphs>40</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AI – Based Network Intrusion Detection System</vt:lpstr>
      <vt:lpstr>PROBLEM  STATEMENT</vt:lpstr>
      <vt:lpstr>Project Description  My project implements an AI-Based Intrusion Detection System(NIDS) that uses ML to identify malicious network activities. The system analyses network traffic data and classifies it as normal or intrusive. The project use the CIC-IDS-2017 real world data , contains labelled network traffic data including normal traffic and different attack types. Streamlit-based dashboard is developed to train and test live traffic values. </vt:lpstr>
      <vt:lpstr>WHO ARE THE END USERS?</vt:lpstr>
      <vt:lpstr>Technology Used</vt:lpstr>
      <vt:lpstr>RESULTS </vt:lpstr>
      <vt:lpstr>RESULTS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Ravikiran Pendyala</cp:lastModifiedBy>
  <cp:revision>78</cp:revision>
  <dcterms:created xsi:type="dcterms:W3CDTF">2021-07-11T13:13:15Z</dcterms:created>
  <dcterms:modified xsi:type="dcterms:W3CDTF">2026-01-04T10:29:09Z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